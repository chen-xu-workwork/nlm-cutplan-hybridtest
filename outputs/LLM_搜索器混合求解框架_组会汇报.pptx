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embeddedFontLst>
    <p:embeddedFont>
      <p:font typeface="Lora Medium" pitchFamily="2" charset="0"/>
      <p:regular r:id="rId19"/>
      <p:italic r:id="rId20"/>
    </p:embeddedFont>
    <p:embeddedFont>
      <p:font typeface="Lora SemiBold" panose="02010600030101010101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Medium" panose="02000000000000000000" pitchFamily="2" charset="0"/>
      <p:regular r:id="rId29"/>
      <p:italic r:id="rId30"/>
    </p:embeddedFont>
    <p:embeddedFont>
      <p:font typeface="Roboto SemiBold" panose="02010600030101010101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129411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87051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4930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46664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736176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875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311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520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69" y="1444887"/>
            <a:ext cx="9448800" cy="1726468"/>
          </a:xfrm>
        </p:spPr>
        <p:txBody>
          <a:bodyPr anchor="t">
            <a:noAutofit/>
          </a:bodyPr>
          <a:lstStyle/>
          <a:p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LLM 与搜索器结合的</a:t>
            </a:r>
          </a:p>
          <a:p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混合规划求解框架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019" y="5077241"/>
            <a:ext cx="6304556" cy="1076208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利用经过验证的合法动作前缀，为经典启发式搜索提供长程跳步。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noGrp="1"/>
          </p:cNvSpPr>
          <p:nvPr/>
        </p:nvSpPr>
        <p:spPr>
          <a:xfrm>
            <a:off x="603018" y="4606175"/>
            <a:ext cx="6304556" cy="320279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组会汇报 · 2026</a:t>
            </a: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noGrp="1"/>
          </p:cNvSpPr>
          <p:nvPr/>
        </p:nvSpPr>
        <p:spPr>
          <a:xfrm>
            <a:off x="603018" y="555606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数值规划与大语言模型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59F4761E-C2E7-4B02-B480-7F1270FBB3E3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E2598689-54C9-18A7-3A19-ED76AA08988F}" type="slidenum">
              <a:rPr/>
              <a:t>2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46195"/>
            <a:ext cx="9448800" cy="985805"/>
          </a:xfrm>
        </p:spPr>
        <p:txBody>
          <a:bodyPr>
            <a:normAutofit/>
          </a:bodyPr>
          <a:lstStyle/>
          <a:p>
            <a:r>
              <a:t>汇报内容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Agenda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="393700" y="2573020"/>
          <a:ext cx="11404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背景与动机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为什么不再完全依赖 LLM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核心设计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中间状态重规划与合法前缀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介入机制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何时触发、如何挂起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状态与 Prompt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完整状态导出与训练格式复用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通信与工程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C++ / Python / vLLM 协作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进展与计划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闭环实现与评价方案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13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202359C0-8A7A-196E-DD58-8E6569619F09}" type="slidenum">
              <a:rPr/>
              <a:t>3</a:t>
            </a:fld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错误会累积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中途一次动作错误，就可能让后续状态全部偏离真实世界。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前缀仍有价值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失败答案中经常存在一段合法前缀，可用于推进搜索。</a:t>
            </a:r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/>
          <a:lstStyle/>
          <a:p>
            <a:r>
              <a:rPr>
                <a:solidFill>
                  <a:schemeClr val="accent1"/>
                </a:solidFill>
              </a:rPr>
              <a:t>单纯依赖 LLM 的完整规划不够可靠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完整规划能力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LLM 能识别领域结构，并一次生成较长的动作序列。</a:t>
            </a:r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我们此前已经尝试让 LLM 独立完成整套规划问题。模型通常能够理解领域结构并给出较长计划，但只要在中后段出现一次非法动作或数值错误，整个解就无法使用。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因此，继续以 LLM 反复生成完整计划为核心，本质上仍然缺少可靠性保障。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已有实验给出的直接结论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EFD6AB9A-5F9E-5F59-51AB-3C8734130965}" type="slidenum">
              <a:rPr/>
              <a:t>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37466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</a:pPr>
            <a:r>
              <a:rPr sz="4200" dirty="0" err="1">
                <a:solidFill>
                  <a:schemeClr val="accent1"/>
                </a:solidFill>
              </a:rPr>
              <a:t>失败的完整解仍然包含</a:t>
            </a:r>
            <a:endParaRPr sz="4200" dirty="0">
              <a:solidFill>
                <a:schemeClr val="accent1"/>
              </a:solidFill>
            </a:endParaRPr>
          </a:p>
          <a:p>
            <a:pPr algn="ctr">
              <a:buNone/>
            </a:pPr>
            <a:r>
              <a:rPr sz="4200" dirty="0" err="1">
                <a:solidFill>
                  <a:schemeClr val="accent1"/>
                </a:solidFill>
              </a:rPr>
              <a:t>可利用的局部信息</a:t>
            </a:r>
            <a:endParaRPr sz="4200" dirty="0">
              <a:solidFill>
                <a:schemeClr val="accent1"/>
              </a:solidFill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1185138" y="2537965"/>
            <a:ext cx="9821723" cy="37842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 err="1">
                <a:latin typeface="Helvetica Neue"/>
                <a:ea typeface="Helvetica Neue"/>
                <a:cs typeface="Helvetica Neue"/>
              </a:rPr>
              <a:t>让搜索器负责状态管理与可靠性，让</a:t>
            </a:r>
            <a:r>
              <a:rPr sz="2000" dirty="0">
                <a:latin typeface="Helvetica Neue"/>
                <a:ea typeface="Helvetica Neue"/>
                <a:cs typeface="Helvetica Neue"/>
              </a:rPr>
              <a:t> LLM </a:t>
            </a:r>
            <a:r>
              <a:rPr sz="2000" dirty="0" err="1">
                <a:latin typeface="Helvetica Neue"/>
                <a:ea typeface="Helvetica Neue"/>
                <a:cs typeface="Helvetica Neue"/>
              </a:rPr>
              <a:t>只在关键位置提供经过验证的长程动作前缀</a:t>
            </a:r>
            <a:r>
              <a:rPr sz="2000" dirty="0">
                <a:latin typeface="Helvetica Neue"/>
                <a:ea typeface="Helvetica Neue"/>
                <a:cs typeface="Helvetica Neue"/>
              </a:rPr>
              <a:t>。</a:t>
            </a:r>
            <a:endParaRPr lang="en-US" sz="2000" dirty="0">
              <a:latin typeface="Helvetica Neue"/>
              <a:ea typeface="Helvetica Neue"/>
              <a:cs typeface="Helvetica Neue"/>
            </a:endParaRP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lang="zh-CN" altLang="en-US" sz="2000" dirty="0">
                <a:latin typeface="Helvetica Neue"/>
                <a:ea typeface="Helvetica Neue"/>
                <a:cs typeface="Helvetica Neue"/>
              </a:rPr>
              <a:t>相比于之前的单纯依靠</a:t>
            </a:r>
            <a:r>
              <a:rPr lang="en-US" altLang="zh-CN" sz="2000" dirty="0">
                <a:latin typeface="Helvetica Neue"/>
                <a:ea typeface="Helvetica Neue"/>
                <a:cs typeface="Helvetica Neue"/>
              </a:rPr>
              <a:t>LLM</a:t>
            </a:r>
            <a:r>
              <a:rPr lang="zh-CN" altLang="en-US" sz="2000" dirty="0">
                <a:latin typeface="Helvetica Neue"/>
                <a:ea typeface="Helvetica Neue"/>
                <a:cs typeface="Helvetica Neue"/>
              </a:rPr>
              <a:t>的方案，由于我们是以符号求解器为基础，能保证整体的可靠性，且由于有原生的搜索策略进行兜底，可以保证原生能求解的问题使用混合求解器一定可以求出，最差的情况就是</a:t>
            </a:r>
            <a:r>
              <a:rPr lang="en-US" altLang="zh-CN" sz="2000" dirty="0">
                <a:latin typeface="Helvetica Neue"/>
                <a:ea typeface="Helvetica Neue"/>
                <a:cs typeface="Helvetica Neue"/>
              </a:rPr>
              <a:t>LLM</a:t>
            </a:r>
            <a:r>
              <a:rPr lang="zh-CN" altLang="en-US" sz="2000" dirty="0">
                <a:latin typeface="Helvetica Neue"/>
                <a:ea typeface="Helvetica Neue"/>
                <a:cs typeface="Helvetica Neue"/>
              </a:rPr>
              <a:t>无法给出可用内容略微降低整体效率。</a:t>
            </a:r>
            <a:endParaRPr lang="en-US" altLang="zh-CN" sz="2000" dirty="0">
              <a:latin typeface="Helvetica Neue"/>
              <a:ea typeface="Helvetica Neue"/>
              <a:cs typeface="Helvetica Neue"/>
            </a:endParaRP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lang="zh-CN" altLang="en-US" sz="2000" dirty="0">
                <a:latin typeface="Helvetica Neue"/>
                <a:ea typeface="Helvetica Neue"/>
                <a:cs typeface="Helvetica Neue"/>
              </a:rPr>
              <a:t>相比其它基于深度学习</a:t>
            </a:r>
            <a:r>
              <a:rPr lang="en-US" altLang="zh-CN" sz="2000" dirty="0">
                <a:latin typeface="Helvetica Neue"/>
                <a:ea typeface="Helvetica Neue"/>
                <a:cs typeface="Helvetica Neue"/>
              </a:rPr>
              <a:t>/LLM</a:t>
            </a:r>
            <a:r>
              <a:rPr lang="zh-CN" altLang="en-US" sz="2000" dirty="0">
                <a:latin typeface="Helvetica Neue"/>
                <a:ea typeface="Helvetica Neue"/>
                <a:cs typeface="Helvetica Neue"/>
              </a:rPr>
              <a:t>作为启发式的工作我们也有明显优势：深度神经网络的前向传播延迟一般达到毫秒级，</a:t>
            </a:r>
            <a:r>
              <a:rPr lang="en-US" altLang="zh-CN" sz="2000" dirty="0">
                <a:latin typeface="Helvetica Neue"/>
                <a:ea typeface="Helvetica Neue"/>
                <a:cs typeface="Helvetica Neue"/>
              </a:rPr>
              <a:t>LLM</a:t>
            </a:r>
            <a:r>
              <a:rPr lang="zh-CN" altLang="en-US" sz="2000" dirty="0">
                <a:latin typeface="Helvetica Neue"/>
                <a:ea typeface="Helvetica Neue"/>
                <a:cs typeface="Helvetica Neue"/>
              </a:rPr>
              <a:t>方案甚至达到秒级，但单次生成的启发式值却仅能引导一个状态的探索，这在高效的搜索过程中是不可接受的。我们将</a:t>
            </a:r>
            <a:r>
              <a:rPr lang="en-US" altLang="zh-CN" sz="2000" dirty="0">
                <a:latin typeface="Helvetica Neue"/>
                <a:ea typeface="Helvetica Neue"/>
                <a:cs typeface="Helvetica Neue"/>
              </a:rPr>
              <a:t>LLM</a:t>
            </a:r>
            <a:r>
              <a:rPr lang="zh-CN" altLang="en-US" sz="2000" dirty="0">
                <a:latin typeface="Helvetica Neue"/>
                <a:ea typeface="Helvetica Neue"/>
                <a:cs typeface="Helvetica Neue"/>
              </a:rPr>
              <a:t>定义为一个宏动作启发式，并通过严格限制</a:t>
            </a:r>
            <a:r>
              <a:rPr lang="en-US" altLang="zh-CN" sz="2000" dirty="0">
                <a:latin typeface="Helvetica Neue"/>
                <a:ea typeface="Helvetica Neue"/>
                <a:cs typeface="Helvetica Neue"/>
              </a:rPr>
              <a:t>LLM</a:t>
            </a:r>
            <a:r>
              <a:rPr lang="zh-CN" altLang="en-US" sz="2000" dirty="0">
                <a:latin typeface="Helvetica Neue"/>
                <a:ea typeface="Helvetica Neue"/>
                <a:cs typeface="Helvetica Neue"/>
              </a:rPr>
              <a:t>的介入时机大幅度减少了此类消耗，实际上大部分时候是由原生启发式工作，</a:t>
            </a:r>
            <a:r>
              <a:rPr lang="en-US" altLang="zh-CN" sz="2000" dirty="0">
                <a:latin typeface="Helvetica Neue"/>
                <a:ea typeface="Helvetica Neue"/>
                <a:cs typeface="Helvetica Neue"/>
              </a:rPr>
              <a:t>LLM</a:t>
            </a:r>
            <a:r>
              <a:rPr lang="zh-CN" altLang="en-US" sz="2000" dirty="0">
                <a:latin typeface="Helvetica Neue"/>
                <a:ea typeface="Helvetica Neue"/>
                <a:cs typeface="Helvetica Neue"/>
              </a:rPr>
              <a:t>仅在关键时刻介入帮助跳步。</a:t>
            </a:r>
            <a:endParaRPr sz="2000" dirty="0"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EE5B3003-2C54-13C6-9832-7637201064DE}" type="slidenum">
              <a:rPr/>
              <a:t>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r>
              <a:rPr>
                <a:solidFill>
                  <a:schemeClr val="accent1"/>
                </a:solidFill>
              </a:rPr>
              <a:t>混合求解器将职责拆分为四个清晰模块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管理 Open / Closed、启发式值、重复检测和状态拓展。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Python 作为主入口组织整个求解流程；C++ 维持高性能搜索，vLLM 负责并发生成，验证层隔离不可靠输出。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总体设计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C++ 搜索后端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启动模型与搜索器，构造 Prompt，并协调所有请求。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Python 主控制台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并发处理多个中间状态，生成候选动作序列。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vLLM 推理服务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保留最长合法前缀，转换成状态链并注入 Open List。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验证与回注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3A53413-BD7D-5F7E-B959-8B983526C347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574A810-7A8E-054F-9F6B-09E9C694ECF9}" type="slidenum">
              <a:rPr lang="en-US" altLang="zh-CN" smtClean="0"/>
              <a:t>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7C9F13-06E2-A1B0-7F14-AB44A7CF8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90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99" y="3822700"/>
            <a:ext cx="3557763" cy="1881104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400" dirty="0" err="1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筛选与挂起</a:t>
            </a:r>
            <a:endParaRPr sz="2400" dirty="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400" dirty="0" err="1"/>
              <a:t>触发器选择状态，导出完整</a:t>
            </a:r>
            <a:r>
              <a:rPr sz="2400" dirty="0"/>
              <a:t> </a:t>
            </a:r>
            <a:r>
              <a:rPr sz="2400" dirty="0" err="1"/>
              <a:t>init，并加入</a:t>
            </a:r>
            <a:r>
              <a:rPr sz="2400" dirty="0"/>
              <a:t> pending。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C630A04-5A25-9E0C-9436-126091DB86B3}" type="slidenum">
              <a:rPr/>
              <a:t>7</a:t>
            </a:fld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18" y="692215"/>
            <a:ext cx="10334842" cy="1034893"/>
          </a:xfrm>
        </p:spPr>
        <p:txBody>
          <a:bodyPr>
            <a:normAutofit/>
          </a:bodyPr>
          <a:lstStyle/>
          <a:p>
            <a:r>
              <a:rPr sz="3600" dirty="0" err="1">
                <a:solidFill>
                  <a:schemeClr val="accent1"/>
                </a:solidFill>
              </a:rPr>
              <a:t>一次</a:t>
            </a:r>
            <a:r>
              <a:rPr sz="3600" dirty="0">
                <a:solidFill>
                  <a:schemeClr val="accent1"/>
                </a:solidFill>
              </a:rPr>
              <a:t> LLM </a:t>
            </a:r>
            <a:r>
              <a:rPr sz="3600" dirty="0" err="1">
                <a:solidFill>
                  <a:schemeClr val="accent1"/>
                </a:solidFill>
              </a:rPr>
              <a:t>介入贯穿“选择</a:t>
            </a:r>
            <a:r>
              <a:rPr sz="3600" dirty="0">
                <a:solidFill>
                  <a:schemeClr val="accent1"/>
                </a:solidFill>
              </a:rPr>
              <a:t>—</a:t>
            </a:r>
            <a:r>
              <a:rPr sz="3600" dirty="0" err="1">
                <a:solidFill>
                  <a:schemeClr val="accent1"/>
                </a:solidFill>
              </a:rPr>
              <a:t>生成</a:t>
            </a:r>
            <a:r>
              <a:rPr sz="3600" dirty="0">
                <a:solidFill>
                  <a:schemeClr val="accent1"/>
                </a:solidFill>
              </a:rPr>
              <a:t>—</a:t>
            </a:r>
            <a:r>
              <a:rPr sz="3600" dirty="0" err="1">
                <a:solidFill>
                  <a:schemeClr val="accent1"/>
                </a:solidFill>
              </a:rPr>
              <a:t>回注”三个阶段</a:t>
            </a:r>
            <a:endParaRPr sz="3600" dirty="0">
              <a:solidFill>
                <a:schemeClr val="accent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17118" y="3822700"/>
            <a:ext cx="3123341" cy="1712904"/>
          </a:xfrm>
        </p:spPr>
        <p:txBody>
          <a:bodyPr>
            <a:noAutofit/>
          </a:bodyPr>
          <a:lstStyle/>
          <a:p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2400" dirty="0" err="1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构造与验证</a:t>
            </a:r>
            <a:endParaRPr sz="2400" dirty="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400" b="0" i="0" u="none" cap="none" dirty="0" err="1">
                <a:ln>
                  <a:noFill/>
                </a:ln>
                <a:solidFill>
                  <a:prstClr val="black"/>
                </a:solidFill>
              </a:rPr>
              <a:t>补齐</a:t>
            </a:r>
            <a:r>
              <a:rPr sz="2400" b="0" i="0" u="none" cap="none" dirty="0">
                <a:ln>
                  <a:noFill/>
                </a:ln>
                <a:solidFill>
                  <a:prstClr val="black"/>
                </a:solidFill>
              </a:rPr>
              <a:t> domain 与 </a:t>
            </a:r>
            <a:r>
              <a:rPr sz="2400" b="0" i="0" u="none" cap="none" dirty="0" err="1">
                <a:ln>
                  <a:noFill/>
                </a:ln>
                <a:solidFill>
                  <a:prstClr val="black"/>
                </a:solidFill>
              </a:rPr>
              <a:t>goal，生成并截取最长合法前缀</a:t>
            </a:r>
            <a:r>
              <a:rPr sz="2400" b="0" i="0" u="none" cap="none" dirty="0">
                <a:ln>
                  <a:noFill/>
                </a:ln>
                <a:solidFill>
                  <a:prstClr val="black"/>
                </a:solidFill>
              </a:rPr>
              <a:t>。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3038794" cy="1825638"/>
          </a:xfrm>
        </p:spPr>
        <p:txBody>
          <a:bodyPr>
            <a:noAutofit/>
          </a:bodyPr>
          <a:lstStyle/>
          <a:p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2400" dirty="0" err="1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状态回注</a:t>
            </a:r>
            <a:endParaRPr sz="2400" dirty="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400" b="0" i="0" u="none" cap="none" dirty="0" err="1">
                <a:ln>
                  <a:noFill/>
                </a:ln>
                <a:solidFill>
                  <a:prstClr val="black"/>
                </a:solidFill>
              </a:rPr>
              <a:t>沿动作前缀生成状态链，加入</a:t>
            </a:r>
            <a:r>
              <a:rPr sz="2400" b="0" i="0" u="none" cap="none" dirty="0">
                <a:ln>
                  <a:noFill/>
                </a:ln>
                <a:solidFill>
                  <a:prstClr val="black"/>
                </a:solidFill>
              </a:rPr>
              <a:t> Open List </a:t>
            </a:r>
            <a:r>
              <a:rPr sz="2400" b="0" i="0" u="none" cap="none" dirty="0" err="1">
                <a:ln>
                  <a:noFill/>
                </a:ln>
                <a:solidFill>
                  <a:prstClr val="black"/>
                </a:solidFill>
              </a:rPr>
              <a:t>继续搜索</a:t>
            </a:r>
            <a:r>
              <a:rPr sz="2400" b="0" i="0" u="none" cap="none" dirty="0">
                <a:ln>
                  <a:noFill/>
                </a:ln>
                <a:solidFill>
                  <a:prstClr val="black"/>
                </a:solidFill>
              </a:rPr>
              <a:t>。</a:t>
            </a:r>
          </a:p>
        </p:txBody>
      </p:sp>
      <p:cxnSp>
        <p:nvCxnSpPr>
          <p:cNvPr id="30" name="Google Shape;2259;p159"/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400" b="1" dirty="0" err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搜索器</a:t>
            </a:r>
            <a:endParaRPr sz="2400" b="1" dirty="0">
              <a:solidFill>
                <a:schemeClr val="accent1"/>
              </a:solidFill>
              <a:latin typeface="Roboto SemiBold"/>
              <a:ea typeface="Roboto SemiBold"/>
              <a:cs typeface="Roboto SemiBold"/>
            </a:endParaRP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2344608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400" b="1" dirty="0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Python + </a:t>
            </a:r>
            <a:r>
              <a:rPr sz="2400" b="1" dirty="0" err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vLLM</a:t>
            </a:r>
            <a:endParaRPr sz="2400" b="1" dirty="0">
              <a:solidFill>
                <a:schemeClr val="accent1"/>
              </a:solidFill>
              <a:latin typeface="Roboto SemiBold"/>
              <a:ea typeface="Roboto SemiBold"/>
              <a:cs typeface="Roboto SemiBold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400" b="1" dirty="0" err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搜索器</a:t>
            </a:r>
            <a:endParaRPr sz="2400" b="1" dirty="0">
              <a:solidFill>
                <a:schemeClr val="accent1"/>
              </a:solidFill>
              <a:latin typeface="Roboto SemiBold"/>
              <a:ea typeface="Roboto SemiBold"/>
              <a:cs typeface="Roboto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D3D7D1C8-AE23-AA48-DF65-C742588DBE47}" type="slidenum">
              <a:rPr/>
              <a:t>8</a:t>
            </a:fld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父链停滞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当前状态与若干级父节点相比，h 未获得有意义的下降。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全局停滞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经过一定数量的拓展后，历史最优 h 仍没有继续改善。</a:t>
            </a:r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/>
          <a:lstStyle/>
          <a:p>
            <a:r>
              <a:rPr>
                <a:solidFill>
                  <a:schemeClr val="accent1"/>
                </a:solidFill>
              </a:rPr>
              <a:t>三类信号共同判断何时值得调用 LLM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Frontier 平台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前 K 个状态的 h 与 f 变异系数都较低，搜索缺少明确方向。</a:t>
            </a:r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全局检测按固定搜索步数运行，从 Frontier 中批量选择高价值状态；父链停滞则在节点拓展时进行轻量判断。三类信号最终共享去重、pending 上限和请求预算。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对 h 的改善判断使用相对阈值，并以很小的绝对阈值处理接近 0 的情况，避免不同问题之间的量纲差异。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触发检测服务于请求筛选，而不是替代启发式搜索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 dirty="0"/>
              <a:t>C++：</a:t>
            </a:r>
            <a:r>
              <a:rPr sz="2000" dirty="0" err="1"/>
              <a:t>导出完整世界状态</a:t>
            </a:r>
            <a:endParaRPr sz="20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20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 dirty="0"/>
              <a:t>• </a:t>
            </a:r>
            <a:r>
              <a:rPr sz="2000" dirty="0" err="1"/>
              <a:t>GlobalState</a:t>
            </a:r>
            <a:r>
              <a:rPr sz="2000" dirty="0"/>
              <a:t> </a:t>
            </a:r>
            <a:r>
              <a:rPr sz="2000" dirty="0" err="1"/>
              <a:t>生成完整</a:t>
            </a:r>
            <a:r>
              <a:rPr sz="2000" dirty="0"/>
              <a:t> (:</a:t>
            </a:r>
            <a:r>
              <a:rPr sz="2000" dirty="0" err="1"/>
              <a:t>init</a:t>
            </a:r>
            <a:r>
              <a:rPr sz="2000" dirty="0"/>
              <a:t> ...)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 dirty="0"/>
              <a:t>• </a:t>
            </a:r>
            <a:r>
              <a:rPr sz="2000" dirty="0" err="1"/>
              <a:t>动态谓词反映当前真假</a:t>
            </a:r>
            <a:endParaRPr sz="20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 dirty="0"/>
              <a:t>• </a:t>
            </a:r>
            <a:r>
              <a:rPr sz="2000" dirty="0" err="1"/>
              <a:t>静态事实与数值函数一并保留</a:t>
            </a:r>
            <a:endParaRPr sz="20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 dirty="0"/>
              <a:t>• </a:t>
            </a:r>
            <a:r>
              <a:rPr sz="2000" dirty="0" err="1"/>
              <a:t>事实来自状态注册表，不依赖近期动作历史</a:t>
            </a:r>
            <a:endParaRPr sz="2000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BA58DA2A-B818-18A9-29C1-B697728D5BCE}" type="slidenum">
              <a:rPr/>
              <a:t>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r>
              <a:rPr>
                <a:solidFill>
                  <a:schemeClr val="accent1"/>
                </a:solidFill>
              </a:rPr>
              <a:t>中间状态可重构为训练分布一致的新问题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 err="1"/>
              <a:t>Python：复用训练</a:t>
            </a:r>
            <a:r>
              <a:rPr sz="2000" dirty="0"/>
              <a:t> Prompt </a:t>
            </a:r>
            <a:r>
              <a:rPr sz="2000" dirty="0" err="1"/>
              <a:t>体系</a:t>
            </a:r>
            <a:endParaRPr sz="20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20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/>
              <a:t>• </a:t>
            </a:r>
            <a:r>
              <a:rPr sz="2000" dirty="0" err="1"/>
              <a:t>problem_id</a:t>
            </a:r>
            <a:r>
              <a:rPr sz="2000" dirty="0"/>
              <a:t> </a:t>
            </a:r>
            <a:r>
              <a:rPr sz="2000" dirty="0" err="1"/>
              <a:t>定位</a:t>
            </a:r>
            <a:r>
              <a:rPr sz="2000" dirty="0"/>
              <a:t> domain 与 problem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/>
              <a:t>• </a:t>
            </a:r>
            <a:r>
              <a:rPr sz="2000" dirty="0" err="1"/>
              <a:t>保留</a:t>
            </a:r>
            <a:r>
              <a:rPr sz="2000" dirty="0"/>
              <a:t> </a:t>
            </a:r>
            <a:r>
              <a:rPr sz="2000" dirty="0" err="1"/>
              <a:t>objects、constants</a:t>
            </a:r>
            <a:r>
              <a:rPr sz="2000" dirty="0"/>
              <a:t> 和 goal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/>
              <a:t>• </a:t>
            </a:r>
            <a:r>
              <a:rPr sz="2000" dirty="0" err="1"/>
              <a:t>用当前状态替换原始</a:t>
            </a:r>
            <a:r>
              <a:rPr sz="2000" dirty="0"/>
              <a:t> (:</a:t>
            </a:r>
            <a:r>
              <a:rPr sz="2000" dirty="0" err="1"/>
              <a:t>init</a:t>
            </a:r>
            <a:r>
              <a:rPr sz="2000" dirty="0"/>
              <a:t> ...)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/>
              <a:t>• </a:t>
            </a:r>
            <a:r>
              <a:rPr sz="2000" dirty="0" err="1"/>
              <a:t>调用</a:t>
            </a:r>
            <a:r>
              <a:rPr sz="2000" dirty="0"/>
              <a:t> </a:t>
            </a:r>
            <a:r>
              <a:rPr sz="2000" dirty="0" err="1"/>
              <a:t>PyPACE</a:t>
            </a:r>
            <a:r>
              <a:rPr sz="2000" dirty="0"/>
              <a:t> translator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 dirty="0"/>
              <a:t>• </a:t>
            </a:r>
            <a:r>
              <a:rPr sz="2000" dirty="0" err="1"/>
              <a:t>使用无</a:t>
            </a:r>
            <a:r>
              <a:rPr sz="2000" dirty="0"/>
              <a:t> assert </a:t>
            </a:r>
            <a:r>
              <a:rPr sz="2000" dirty="0" err="1"/>
              <a:t>模板，只构造问题</a:t>
            </a:r>
            <a:endParaRPr sz="20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只动态替换 init，其余信息由问题编号复用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dirty="0" err="1"/>
              <a:t>原始搜索流程</a:t>
            </a:r>
            <a:endParaRPr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dirty="0"/>
              <a:t>• Open List </a:t>
            </a:r>
            <a:r>
              <a:rPr dirty="0" err="1"/>
              <a:t>弹出候选节点</a:t>
            </a:r>
            <a:endParaRPr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dirty="0"/>
              <a:t>• </a:t>
            </a:r>
            <a:r>
              <a:rPr dirty="0" err="1"/>
              <a:t>检查节点是否已关闭或已失效</a:t>
            </a:r>
            <a:endParaRPr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dirty="0"/>
              <a:t>• </a:t>
            </a:r>
            <a:r>
              <a:rPr dirty="0" err="1"/>
              <a:t>拓展合法节点并生成后继</a:t>
            </a:r>
            <a:endParaRPr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dirty="0"/>
              <a:t>• </a:t>
            </a:r>
            <a:r>
              <a:rPr dirty="0" err="1"/>
              <a:t>更新路径代价、父节点与</a:t>
            </a:r>
            <a:r>
              <a:rPr dirty="0"/>
              <a:t> Open List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dirty="0"/>
              <a:t>• </a:t>
            </a:r>
            <a:r>
              <a:rPr dirty="0" err="1"/>
              <a:t>相同世界状态映射到同一</a:t>
            </a:r>
            <a:r>
              <a:rPr dirty="0"/>
              <a:t> </a:t>
            </a:r>
            <a:r>
              <a:rPr dirty="0" err="1"/>
              <a:t>StateID</a:t>
            </a:r>
            <a:endParaRPr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388657AE-30A1-5A7A-6A7F-315D84436430}" type="slidenum">
              <a:rPr/>
              <a:t>10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r>
              <a:rPr>
                <a:solidFill>
                  <a:schemeClr val="accent1"/>
                </a:solidFill>
              </a:rPr>
              <a:t>Pending 集实现状态挂起，而不破坏原搜索语义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 err="1"/>
              <a:t>混合搜索新增逻辑</a:t>
            </a:r>
            <a:endParaRPr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/>
              <a:t>• </a:t>
            </a:r>
            <a:r>
              <a:rPr dirty="0" err="1"/>
              <a:t>请求提交后加入</a:t>
            </a:r>
            <a:r>
              <a:rPr dirty="0"/>
              <a:t> </a:t>
            </a:r>
            <a:r>
              <a:rPr dirty="0" err="1"/>
              <a:t>pending_states</a:t>
            </a:r>
            <a:endParaRPr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/>
              <a:t>• Pending </a:t>
            </a:r>
            <a:r>
              <a:rPr dirty="0" err="1"/>
              <a:t>状态再次弹出时暂不拓展</a:t>
            </a:r>
            <a:endParaRPr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/>
              <a:t>• </a:t>
            </a:r>
            <a:r>
              <a:rPr dirty="0" err="1"/>
              <a:t>requested_states</a:t>
            </a:r>
            <a:r>
              <a:rPr dirty="0"/>
              <a:t> </a:t>
            </a:r>
            <a:r>
              <a:rPr dirty="0" err="1"/>
              <a:t>阻止重复请求</a:t>
            </a:r>
            <a:endParaRPr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/>
              <a:t>• LLM </a:t>
            </a:r>
            <a:r>
              <a:rPr dirty="0" err="1"/>
              <a:t>返回后移出</a:t>
            </a:r>
            <a:r>
              <a:rPr dirty="0"/>
              <a:t> pending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/>
              <a:t>• </a:t>
            </a:r>
            <a:r>
              <a:rPr dirty="0" err="1"/>
              <a:t>合法前缀生成的新状态重新参与搜索</a:t>
            </a:r>
            <a:endParaRPr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状态身份仍由 StateRegistry 与 StateID 统一管理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DB7BEEEC-A170-5376-2B6E-CB54687B0CB1}" type="slidenum">
              <a:rPr/>
              <a:t>11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r>
              <a:rPr>
                <a:solidFill>
                  <a:schemeClr val="accent1"/>
                </a:solidFill>
              </a:rPr>
              <a:t>本地 HTTP 将搜索线程与长时推理解耦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搜索线程只负责 submit / poll，不直接等待网络响应。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H20 部署 9B 模型的既有实验中，并发达到 100 时 KV cache 仍约占五分之一。等待响应的线程休眠在 socket 上，现阶段无需重构为复杂异步协议。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通信与并发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非阻塞提交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C++ worker 与 Python 请求线程可扩展到约 100 个并发。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并发线程池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request_id 与 state_id 保证响应按状态正确回收。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乱序关联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提高 HTTP 超时，并用 pending 上限限制请求总量。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资源控制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30394428-F1DC-E5F6-DB0C-7DE31F3D8A23}" type="slidenum">
              <a:rPr/>
              <a:t>12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r>
              <a:rPr>
                <a:solidFill>
                  <a:schemeClr val="accent1"/>
                </a:solidFill>
              </a:rPr>
              <a:t>接口设计围绕一份最小请求和一份可信响应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请求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request_id · state_id · problem_id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reason · g · h · init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600">
              <a:latin typeface="Helvetica Neue"/>
              <a:ea typeface="Helvetica Neue"/>
              <a:cs typeface="Helvetica Neue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响应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request_id · state_id · status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actions：已经验证的合法动作前缀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600">
              <a:latin typeface="Helvetica Neue"/>
              <a:ea typeface="Helvetica Neue"/>
              <a:cs typeface="Helvetica Neue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责任边界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Python 负责模型输出解析与合法性验证；C++ 信任返回前缀，只负责状态生成与 Open List 回注。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C++ 只发送当前 init；其余上下文在 Python 侧补全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get_pddl_init_string() 输出完整 (:init ...)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状态接口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build(problem_id, init) 返回 system / user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Prompt 接口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submit(request) + poll_completed()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通信接口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4DB16885-0D3F-A391-B669-3211DB3B26E8}" type="slidenum">
              <a:rPr/>
              <a:t>13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35900" cy="10402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r>
              <a:rPr>
                <a:solidFill>
                  <a:schemeClr val="accent1"/>
                </a:solidFill>
              </a:rPr>
              <a:t>关键基础链路已经打通，核心闭环仍待完成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="4752742" y="1549337"/>
          <a:ext cx="6778000" cy="4627827"/>
        </p:xfrm>
        <a:graphic>
          <a:graphicData uri="http://schemas.openxmlformats.org/drawingml/2006/table">
            <a:tbl>
              <a:tblPr firstRow="1"/>
              <a:tblGrid>
                <a:gridCol w="169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4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模块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状态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已验证内容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下一步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运行环境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完成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WSL 编译测试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可复现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状态导出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完成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完整 init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测性能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介入判定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完成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三类触发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做消融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挂起机制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框架完成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pending 集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收结果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C++ 通信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完成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并发 submit / poll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超时取消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Python 控制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完成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并发接收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接 vLLM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Prompt 构造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完成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PyPACE 模板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做缓存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动作验证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待完成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方案已定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合法前缀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OpenList 回注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待完成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流程已定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闭环联调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noGrp="1"/>
          </p:cNvSpPr>
          <p:nvPr/>
        </p:nvSpPr>
        <p:spPr>
          <a:xfrm>
            <a:off x="393700" y="2253148"/>
            <a:ext cx="3606800" cy="3220203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 err="1"/>
              <a:t>状态提取、触发判定、挂起框架和双端通信已经能够运行并产生可检查日志</a:t>
            </a:r>
            <a:r>
              <a:rPr dirty="0"/>
              <a:t>。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dirty="0" err="1"/>
              <a:t>下一阶段的关键不是继续增加探针，而是打通</a:t>
            </a:r>
            <a:r>
              <a:rPr dirty="0"/>
              <a:t> </a:t>
            </a:r>
            <a:r>
              <a:rPr dirty="0" err="1"/>
              <a:t>vLLM</a:t>
            </a:r>
            <a:r>
              <a:rPr dirty="0"/>
              <a:t> </a:t>
            </a:r>
            <a:r>
              <a:rPr dirty="0" err="1"/>
              <a:t>推理、动作验证和</a:t>
            </a:r>
            <a:r>
              <a:rPr dirty="0"/>
              <a:t> Open List </a:t>
            </a:r>
            <a:r>
              <a:rPr dirty="0" err="1"/>
              <a:t>回注</a:t>
            </a:r>
            <a:r>
              <a:rPr dirty="0"/>
              <a:t>。</a:t>
            </a:r>
          </a:p>
        </p:txBody>
      </p:sp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noGrp="1"/>
          </p:cNvSpPr>
          <p:nvPr/>
        </p:nvSpPr>
        <p:spPr>
          <a:xfrm>
            <a:off x="393700" y="1564835"/>
            <a:ext cx="3606800" cy="1178365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当前工程状态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接入 vLLM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提交请求并解析动作序列。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DD23107-4986-8758-3A93-3D74F35908CC}" type="slidenum">
              <a:rPr/>
              <a:t>14</a:t>
            </a:fld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46838" cy="1034893"/>
          </a:xfrm>
        </p:spPr>
        <p:txBody>
          <a:bodyPr/>
          <a:lstStyle/>
          <a:p>
            <a:r>
              <a:rPr>
                <a:solidFill>
                  <a:schemeClr val="accent1"/>
                </a:solidFill>
              </a:rPr>
              <a:t>下一阶段按“推理—验证—优化”完成闭环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17119" y="3822700"/>
            <a:ext cx="2595934" cy="1168400"/>
          </a:xfrm>
        </p:spPr>
        <p:txBody>
          <a:bodyPr>
            <a:noAutofit/>
          </a:bodyPr>
          <a:lstStyle/>
          <a:p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验证与回注</a:t>
            </a:r>
          </a:p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</a:rPr>
              <a:t>验证合法前缀，在 C++ 中生成状态链。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Autofit/>
          </a:bodyPr>
          <a:lstStyle/>
          <a:p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性能优化</a:t>
            </a:r>
          </a:p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</a:rPr>
              <a:t>缓存静态 Prompt，控制验证并发。</a:t>
            </a:r>
          </a:p>
        </p:txBody>
      </p:sp>
      <p:cxnSp>
        <p:nvCxnSpPr>
          <p:cNvPr id="30" name="Google Shape;2259;p159"/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近期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闭环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实验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327921A4-25C4-3DB4-06B1-32693CEE2241}" type="slidenum">
              <a:rPr/>
              <a:t>15</a:t>
            </a:fld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LLM 利用率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请求数、有效前缀比例、平均合法前缀长度与过期率。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系统开销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Prompt 构造、推理、验证、通信和回注分别耗时多少。</a:t>
            </a:r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/>
          <a:lstStyle/>
          <a:p>
            <a:r>
              <a:rPr>
                <a:solidFill>
                  <a:schemeClr val="accent1"/>
                </a:solidFill>
              </a:rPr>
              <a:t>最终评价标准是能否降低总求解时间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求解效率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总时间、成功率、状态拓展数，以及相对基线的加速比。</a:t>
            </a:r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实验将比较原始 C++ 搜索器、LLM 独立求解和混合求解器；同时分别关闭 Frontier 平台、父链停滞和全局停滞机制，观察各触发器的贡献。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所有收益都必须在保持计划合法和问题可解的前提下成立。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对比基线、消融触发器，并分解每一部分开销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04547184-F9AB-41A2-96FA-3FDD9BF15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99" y="2812968"/>
            <a:ext cx="5537200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单纯依赖 LLM 生成完整计划不够可靠；但模型经常给出可验证的合法前缀。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600">
              <a:latin typeface="Helvetica Neue"/>
              <a:ea typeface="Helvetica Neue"/>
              <a:cs typeface="Helvetica Neue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将这些前缀作为搜索器的候选跳步，可以保留经典搜索的状态管理与正确性基础。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36856711-BC42-4B19-9CF0-53F24D90266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EA83FA91-883A-0168-8075-96CEB9DCA3C2}" type="slidenum">
              <a:rPr/>
              <a:t>16</a:t>
            </a:fld>
            <a:endParaRPr/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noGrp="1"/>
          </p:cNvSpPr>
          <p:nvPr/>
        </p:nvSpPr>
        <p:spPr>
          <a:xfrm>
            <a:off x="393700" y="2111025"/>
            <a:ext cx="1844403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当前结论</a:t>
            </a:r>
          </a:p>
        </p:txBody>
      </p:sp>
      <p:sp>
        <p:nvSpPr>
          <p:cNvPr id="6" name="Google Shape;534;p58">
            <a:extLst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noGrp="1"/>
          </p:cNvSpPr>
          <p:nvPr/>
        </p:nvSpPr>
        <p:spPr>
          <a:xfrm>
            <a:off x="6260109" y="2826992"/>
            <a:ext cx="5537200" cy="100108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把搜索中间状态视为新的初始状态，只动态替换 init，就能复用原有训练 Prompt 体系。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noGrp="1"/>
          </p:cNvSpPr>
          <p:nvPr/>
        </p:nvSpPr>
        <p:spPr>
          <a:xfrm>
            <a:off x="6260109" y="2344035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最重要的设计判断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46195"/>
            <a:ext cx="11403610" cy="623819"/>
          </a:xfrm>
        </p:spPr>
        <p:txBody>
          <a:bodyPr>
            <a:normAutofit/>
          </a:bodyPr>
          <a:lstStyle/>
          <a:p>
            <a:r>
              <a:t>搜索器保证可靠性，LLM 提供有价值的跳步</a:t>
            </a:r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总结与讨论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846517D-6ED0-491E-926C-BBC76E2AF6D8}"/>
              </a:ext>
            </a:extLst>
          </p:cNvPr>
          <p:cNvSpPr>
            <a:spLocks noGrp="1"/>
          </p:cNvSpPr>
          <p:nvPr/>
        </p:nvSpPr>
        <p:spPr>
          <a:xfrm>
            <a:off x="6261100" y="4039769"/>
            <a:ext cx="5537200" cy="0"/>
          </a:xfrm>
          <a:prstGeom prst="line">
            <a:avLst/>
          </a:prstGeom>
          <a:ln w="12700"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Google Shape;534;p58">
            <a:extLst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noGrp="1"/>
          </p:cNvSpPr>
          <p:nvPr/>
        </p:nvSpPr>
        <p:spPr>
          <a:xfrm>
            <a:off x="6260109" y="4867987"/>
            <a:ext cx="5537200" cy="120023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优先完成 vLLM—合法前缀验证—Open List 回注闭环，再开展触发策略与并发参数实验。</a:t>
            </a:r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noGrp="1"/>
          </p:cNvSpPr>
          <p:nvPr/>
        </p:nvSpPr>
        <p:spPr>
          <a:xfrm>
            <a:off x="6260109" y="4385030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下一步的工程决策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noGrp="1"/>
          </p:cNvSpPr>
          <p:nvPr/>
        </p:nvSpPr>
        <p:spPr>
          <a:xfrm>
            <a:off x="2349499" y="2093356"/>
            <a:ext cx="2271780" cy="402442"/>
          </a:xfrm>
          <a:prstGeom prst="roundRect">
            <a:avLst>
              <a:gd name="adj" fmla="val 15738"/>
            </a:avLst>
          </a:prstGeom>
          <a:solidFill>
            <a:schemeClr val="accent1">
              <a:alpha val="246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accent1"/>
                </a:solidFill>
              </a:rPr>
              <a:t>框架可行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noGrp="1"/>
          </p:cNvSpPr>
          <p:nvPr/>
        </p:nvSpPr>
        <p:spPr>
          <a:xfrm>
            <a:off x="393699" y="4756098"/>
            <a:ext cx="5537199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最终检验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noGrp="1"/>
          </p:cNvSpPr>
          <p:nvPr/>
        </p:nvSpPr>
        <p:spPr>
          <a:xfrm>
            <a:off x="386251" y="5134071"/>
            <a:ext cx="5537200" cy="86032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在保持计划合法性的前提下，混合方法能否稳定降低总求解时间？</a:t>
            </a:r>
          </a:p>
        </p:txBody>
      </p:sp>
    </p:spTree>
    <p:extLst>
      <p:ext uri="{BB962C8B-B14F-4D97-AF65-F5344CB8AC3E}">
        <p14:creationId xmlns:p14="http://schemas.microsoft.com/office/powerpoint/2010/main" val="54073133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976</Words>
  <Application>Microsoft Office PowerPoint</Application>
  <DocSecurity>0</DocSecurity>
  <PresentationFormat>宽屏</PresentationFormat>
  <Paragraphs>224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Roboto Medium</vt:lpstr>
      <vt:lpstr>Arial</vt:lpstr>
      <vt:lpstr>Lora SemiBold</vt:lpstr>
      <vt:lpstr>Lora Medium</vt:lpstr>
      <vt:lpstr>Helvetica Neue Medium</vt:lpstr>
      <vt:lpstr>Roboto SemiBold</vt:lpstr>
      <vt:lpstr>Roboto</vt:lpstr>
      <vt:lpstr>Helvetica Neue</vt:lpstr>
      <vt:lpstr>Default Codex Theme</vt:lpstr>
      <vt:lpstr>LLM 与搜索器结合的 混合规划求解框架</vt:lpstr>
      <vt:lpstr>汇报内容</vt:lpstr>
      <vt:lpstr>单纯依赖 LLM 的完整规划不够可靠</vt:lpstr>
      <vt:lpstr>失败的完整解仍然包含 可利用的局部信息</vt:lpstr>
      <vt:lpstr>混合求解器将职责拆分为四个清晰模块</vt:lpstr>
      <vt:lpstr>PowerPoint 演示文稿</vt:lpstr>
      <vt:lpstr>一次 LLM 介入贯穿“选择—生成—回注”三个阶段</vt:lpstr>
      <vt:lpstr>三类信号共同判断何时值得调用 LLM</vt:lpstr>
      <vt:lpstr>中间状态可重构为训练分布一致的新问题</vt:lpstr>
      <vt:lpstr>Pending 集实现状态挂起，而不破坏原搜索语义</vt:lpstr>
      <vt:lpstr>本地 HTTP 将搜索线程与长时推理解耦</vt:lpstr>
      <vt:lpstr>接口设计围绕一份最小请求和一份可信响应</vt:lpstr>
      <vt:lpstr>关键基础链路已经打通，核心闭环仍待完成</vt:lpstr>
      <vt:lpstr>下一阶段按“推理—验证—优化”完成闭环</vt:lpstr>
      <vt:lpstr>最终评价标准是能否降低总求解时间</vt:lpstr>
      <vt:lpstr>搜索器保证可靠性，LLM 提供有价值的跳步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忱 许</cp:lastModifiedBy>
  <cp:revision>3</cp:revision>
  <dcterms:created xsi:type="dcterms:W3CDTF">2026-07-24T02:54:27Z</dcterms:created>
  <dcterms:modified xsi:type="dcterms:W3CDTF">2026-07-24T03:42:12Z</dcterms:modified>
</cp:coreProperties>
</file>